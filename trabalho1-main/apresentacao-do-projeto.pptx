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47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0665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tarde. Vou apresentar o sistema frontend que desenvolvemos para gerenciar agendas médicas de uma clínica, atendendo ao documento de requisitos do Grupo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Vou começar pelo problema, passar pelos requisitos e a arquitetura, mostrar as funcionalidades e o código, fazer uma demonstração e fechar com as conclusões.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documento pede uma aplicação focada na experiência do usuário e na organização das informações temporais — basicamente, deixar a agenda da clínica fácil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documento se divide em requisitos funcionais — o que o sistema faz — e requisitos visuais, de UX, performance e acessibilidade. Implementamos os principais de cada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Seguimos exatamente a arquitetura pedida: barra lateral de navegação, barra superior de controle e uma área central com a grade da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Usamos JavaScript puro para a lógica e três bibliotecas via CDN: Bootstrap para os componentes, Chart.js para os gráficos e Font Awesome para os ícones. Não há servidor: os dados são mockados no próprio JavaScript.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tem quatro telas em HTML, um arquivo de lógica e um de estilo. Cada HTML representa uma parte do fluxo do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usuário entra pelo site, escolhe o perfil no login e é direcionado: colaboradores vão para o painel de gestão; pacientes vão para o portal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página inicial, além do visual, há contadores e gráficos que só animam quando aparecem na tela, usando o IntersectionObserver — isso evita processar coisas que o usuário ainda não está vendo.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login tem dois perfis. Como é um protótipo frontend, ele não valida senha de verdade — ele direciona o usuário para a área certa conforme o perfil selecionado.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dashboard reúne os componentes obrigatórios do documento: topbar, sidebar, cartões de indicadores, gráficos, a agenda em grade e a timeline do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consulta é um card colorido pelo status. Clicando, abre o detalhe, e dá para confirmar ou cancelar — e tudo na tela se atualiza instantaneamente.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coração é o app.js. Os dados ficam em arrays; funções como renderAgenda leem esses dados e desenham a interface. Os filtros e a busca alteram o que é exibido sem recarregar a página, e a busca usa debounce para não pesar enquanto o usuário digita.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o resumo do que foi entregue frente ao documento — cobrimos os requisitos funcionais principais e os de UI, UX e acessibilidade.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Vou mostrar rapidamente o fluxo completo: entrar pelo site, ver o dashboard, usar os filtros e a busca, e marcar uma consulta no portal do paciente.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é um protótipo frontend, os dados não persistem. A evolução natural seria adicionar armazenamento local e, depois, um backend de verdade com banco de dados e login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Obrigado pela atenção. Fico à disposição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D4F64">
                  <a:alpha val="100000"/>
                </a:srgbClr>
              </a:gs>
              <a:gs pos="52000">
                <a:srgbClr val="126B86">
                  <a:alpha val="100000"/>
                </a:srgbClr>
              </a:gs>
              <a:gs pos="100000">
                <a:srgbClr val="1A8BA8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4478000" y="-1143000"/>
            <a:ext cx="4953000" cy="4953000"/>
          </a:xfrm>
          <a:prstGeom prst="ellipse">
            <a:avLst/>
          </a:prstGeom>
          <a:gradFill rotWithShape="1">
            <a:gsLst>
              <a:gs pos="0">
                <a:srgbClr val="30FADF">
                  <a:alpha val="18000"/>
                </a:srgbClr>
              </a:gs>
              <a:gs pos="70000">
                <a:srgbClr val="30FAD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30FADF"/>
          </a:solidFill>
          <a:ln/>
          <a:effectLst>
            <a:outerShdw blurRad="285750" dist="114300" dir="5400000" algn="bl" rotWithShape="0">
              <a:srgbClr val="30FADF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122164" y="1019175"/>
            <a:ext cx="36552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0D4F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790700" y="1119188"/>
            <a:ext cx="515067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300" dirty="0">
                <a:solidFill>
                  <a:srgbClr val="30F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DE PROJETO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914400" y="2076450"/>
            <a:ext cx="13735050" cy="2138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75" b="1" kern="0" spc="-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de Agendas Médicas</a:t>
            </a:r>
            <a:endParaRPr lang="en-US" sz="7875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1810512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 Geral — Aplicação Frontend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14400" y="9020175"/>
            <a:ext cx="176987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 err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</a:t>
            </a:r>
            <a:r>
              <a:rPr lang="en-US" sz="20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(s)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2694831" y="9020175"/>
            <a:ext cx="13796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>
                    <a:alpha val="3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2928045" y="9020175"/>
            <a:ext cx="433801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Web — Grupo A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7043142" y="9020175"/>
            <a:ext cx="13796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>
                    <a:alpha val="3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7276356" y="9020175"/>
            <a:ext cx="194783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 de 2026</a:t>
            </a:r>
            <a:endParaRPr lang="en-US" sz="20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33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0FA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428750" y="800100"/>
            <a:ext cx="150892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225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914400" y="1323975"/>
            <a:ext cx="18105120" cy="768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75" b="1" kern="0" spc="-75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da apresentação</a:t>
            </a:r>
            <a:endParaRPr lang="en-US" sz="5475" dirty="0"/>
          </a:p>
        </p:txBody>
      </p:sp>
      <p:sp>
        <p:nvSpPr>
          <p:cNvPr id="5" name="Text 3"/>
          <p:cNvSpPr/>
          <p:nvPr/>
        </p:nvSpPr>
        <p:spPr>
          <a:xfrm>
            <a:off x="914400" y="4374952"/>
            <a:ext cx="5905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657350" y="4327327"/>
            <a:ext cx="413288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e o objetivo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439150" y="4374952"/>
            <a:ext cx="5905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182100" y="4327327"/>
            <a:ext cx="426614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código funciona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5089327"/>
            <a:ext cx="5905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657350" y="5041702"/>
            <a:ext cx="4516621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do documento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439150" y="5089327"/>
            <a:ext cx="5905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82100" y="5041702"/>
            <a:ext cx="260300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5803702"/>
            <a:ext cx="5905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657350" y="5756077"/>
            <a:ext cx="449239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e tecnologias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439150" y="5803702"/>
            <a:ext cx="5905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82100" y="5756077"/>
            <a:ext cx="1892007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14400" y="6518077"/>
            <a:ext cx="5905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657350" y="6470452"/>
            <a:ext cx="4889227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do sistema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9134475"/>
            <a:ext cx="52737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de Agendas Médicas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6621125" y="9134475"/>
            <a:ext cx="8286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17</a:t>
            </a:r>
            <a:endParaRPr lang="en-US" sz="20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33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0FA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428750" y="800100"/>
            <a:ext cx="18180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225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914400" y="1323975"/>
            <a:ext cx="18105120" cy="768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75" b="1" kern="0" spc="-75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e o objetivo</a:t>
            </a:r>
            <a:endParaRPr lang="en-US" sz="5475" dirty="0"/>
          </a:p>
        </p:txBody>
      </p:sp>
      <p:sp>
        <p:nvSpPr>
          <p:cNvPr id="5" name="Text 3"/>
          <p:cNvSpPr/>
          <p:nvPr/>
        </p:nvSpPr>
        <p:spPr>
          <a:xfrm>
            <a:off x="914400" y="2206377"/>
            <a:ext cx="13620750" cy="577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9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Clínicas precisam organizar consultas de forma </a:t>
            </a:r>
            <a:r>
              <a:rPr lang="en-US" sz="2925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visual, rápida e intuitiva</a:t>
            </a:r>
            <a:r>
              <a:rPr lang="en-US" sz="29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925" dirty="0"/>
          </a:p>
        </p:txBody>
      </p:sp>
      <p:sp>
        <p:nvSpPr>
          <p:cNvPr id="6" name="Shape 4"/>
          <p:cNvSpPr/>
          <p:nvPr/>
        </p:nvSpPr>
        <p:spPr>
          <a:xfrm>
            <a:off x="914400" y="4624685"/>
            <a:ext cx="6991350" cy="2706737"/>
          </a:xfrm>
          <a:prstGeom prst="roundRect">
            <a:avLst>
              <a:gd name="adj" fmla="val 7038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343025" y="5053310"/>
            <a:ext cx="67475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do documento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43025" y="5548610"/>
            <a:ext cx="6318123" cy="1373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Desenvolver um </a:t>
            </a:r>
            <a:r>
              <a:rPr lang="en-US" sz="240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moderno </a:t>
            </a:r>
            <a:r>
              <a:rPr lang="en-US" sz="240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foco em UX, UI, performance visual, navegação rápida e organização operacional.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10550" y="4624685"/>
            <a:ext cx="6991350" cy="2706737"/>
          </a:xfrm>
          <a:prstGeom prst="roundRect">
            <a:avLst>
              <a:gd name="adj" fmla="val 7038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639175" y="5053310"/>
            <a:ext cx="67475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aplicação deve fazer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8639175" y="5548610"/>
            <a:ext cx="6318123" cy="1392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Exibir agendas, permitir o </a:t>
            </a:r>
            <a:r>
              <a:rPr lang="en-US" sz="240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gerenciamento visual de consultas </a:t>
            </a:r>
            <a:r>
              <a:rPr lang="en-US" sz="240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dar </a:t>
            </a:r>
            <a:r>
              <a:rPr lang="en-US" sz="240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visual imediato </a:t>
            </a:r>
            <a:r>
              <a:rPr lang="en-US" sz="240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9134475"/>
            <a:ext cx="52737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de Agendas Médicas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6625291" y="9134475"/>
            <a:ext cx="105740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17</a:t>
            </a:r>
            <a:endParaRPr lang="en-US" sz="20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33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0FA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428750" y="800100"/>
            <a:ext cx="48620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225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DE REQUISITOS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914400" y="1323975"/>
            <a:ext cx="18105120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75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do documento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14400" y="3306961"/>
            <a:ext cx="7258050" cy="4638675"/>
          </a:xfrm>
          <a:prstGeom prst="roundRect">
            <a:avLst>
              <a:gd name="adj" fmla="val 4107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14400" y="3306961"/>
            <a:ext cx="7258050" cy="47625"/>
          </a:xfrm>
          <a:prstGeom prst="rect">
            <a:avLst/>
          </a:prstGeom>
          <a:solidFill>
            <a:srgbClr val="126B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333500" y="3735586"/>
            <a:ext cx="706183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Funcionais </a:t>
            </a: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seção 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33475" y="4297561"/>
            <a:ext cx="6696075" cy="3305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Topbar com busca e botão de novo agendamento</a:t>
            </a:r>
            <a:endParaRPr lang="en-US" sz="2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de navegação</a:t>
            </a:r>
            <a:endParaRPr lang="en-US" sz="2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com KPIs e gráficos</a:t>
            </a:r>
            <a:endParaRPr lang="en-US" sz="2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de Agenda (diária / semanal / mensal)</a:t>
            </a:r>
            <a:endParaRPr lang="en-US" sz="2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de consulta e filtros operacionais</a:t>
            </a:r>
            <a:endParaRPr lang="en-US" sz="2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global com autocomplete · Timeline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8515350" y="3306961"/>
            <a:ext cx="7258050" cy="4638675"/>
          </a:xfrm>
          <a:prstGeom prst="roundRect">
            <a:avLst>
              <a:gd name="adj" fmla="val 4107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8515350" y="3306961"/>
            <a:ext cx="7258050" cy="47625"/>
          </a:xfrm>
          <a:prstGeom prst="rect">
            <a:avLst/>
          </a:prstGeom>
          <a:solidFill>
            <a:srgbClr val="30FA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934450" y="3735586"/>
            <a:ext cx="706183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funcionais </a:t>
            </a: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2025" dirty="0" err="1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seções</a:t>
            </a: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5 - 9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734425" y="4297561"/>
            <a:ext cx="6696075" cy="293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clean e minimalista</a:t>
            </a:r>
            <a:endParaRPr lang="en-US" sz="2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Hierarquia visual clara</a:t>
            </a:r>
            <a:endParaRPr lang="en-US" sz="2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Cores semânticas de status</a:t>
            </a:r>
            <a:endParaRPr lang="en-US" sz="2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visual (UX)</a:t>
            </a:r>
            <a:endParaRPr lang="en-US" sz="2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2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Acessibilidade (contraste, teclado, labels)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9134475"/>
            <a:ext cx="52737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de Agendas Médicas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6616660" y="9134475"/>
            <a:ext cx="107891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17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33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0FA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428750" y="800100"/>
            <a:ext cx="45269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225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DA INTERFACE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914400" y="1323975"/>
            <a:ext cx="18105120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75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visual da interface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14400" y="3830836"/>
            <a:ext cx="7630120" cy="9525"/>
          </a:xfrm>
          <a:prstGeom prst="rect">
            <a:avLst/>
          </a:prstGeom>
          <a:solidFill>
            <a:srgbClr val="E3E8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3040261"/>
            <a:ext cx="31432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/ Topbar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00500" y="2878336"/>
            <a:ext cx="4680341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global (busca, novo agendamento)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4773811"/>
            <a:ext cx="7630120" cy="9525"/>
          </a:xfrm>
          <a:prstGeom prst="rect">
            <a:avLst/>
          </a:prstGeom>
          <a:solidFill>
            <a:srgbClr val="E3E8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914400" y="4145161"/>
            <a:ext cx="31432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000500" y="4178498"/>
            <a:ext cx="499842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entre módulos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14400" y="5716786"/>
            <a:ext cx="7630120" cy="9525"/>
          </a:xfrm>
          <a:prstGeom prst="rect">
            <a:avLst/>
          </a:prstGeom>
          <a:solidFill>
            <a:srgbClr val="E3E8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14400" y="5088136"/>
            <a:ext cx="31432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Content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000500" y="5121473"/>
            <a:ext cx="499842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principal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6659761"/>
            <a:ext cx="7630120" cy="9525"/>
          </a:xfrm>
          <a:prstGeom prst="rect">
            <a:avLst/>
          </a:prstGeom>
          <a:solidFill>
            <a:srgbClr val="E3E8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4400" y="6031111"/>
            <a:ext cx="31432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Toolbar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000500" y="6064448"/>
            <a:ext cx="499842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e navegação temporal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7602736"/>
            <a:ext cx="7630120" cy="9525"/>
          </a:xfrm>
          <a:prstGeom prst="rect">
            <a:avLst/>
          </a:prstGeom>
          <a:solidFill>
            <a:srgbClr val="E3E8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14400" y="6974086"/>
            <a:ext cx="31432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Grid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000500" y="7007423"/>
            <a:ext cx="499842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Colunas = dias · linhas = horários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14400" y="7917061"/>
            <a:ext cx="31432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000500" y="7950398"/>
            <a:ext cx="499842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077920" y="3397448"/>
            <a:ext cx="7266831" cy="44577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blurRad="476250" dist="171450" dir="5400000" algn="bl" rotWithShape="0">
              <a:srgbClr val="126B86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296995" y="3616523"/>
            <a:ext cx="6828681" cy="438150"/>
          </a:xfrm>
          <a:prstGeom prst="roundRect">
            <a:avLst>
              <a:gd name="adj" fmla="val 21739"/>
            </a:avLst>
          </a:prstGeom>
          <a:solidFill>
            <a:srgbClr val="126B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468445" y="3721298"/>
            <a:ext cx="1104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30F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Topbar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9296995" y="4207073"/>
            <a:ext cx="1428750" cy="3429000"/>
          </a:xfrm>
          <a:prstGeom prst="roundRect">
            <a:avLst>
              <a:gd name="adj" fmla="val 6667"/>
            </a:avLst>
          </a:prstGeom>
          <a:solidFill>
            <a:srgbClr val="E8F1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9449395" y="4359473"/>
            <a:ext cx="12001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449395" y="4692848"/>
            <a:ext cx="1123950" cy="133350"/>
          </a:xfrm>
          <a:prstGeom prst="roundRect">
            <a:avLst>
              <a:gd name="adj" fmla="val 28571"/>
            </a:avLst>
          </a:prstGeom>
          <a:solidFill>
            <a:srgbClr val="BCD6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9449395" y="4921448"/>
            <a:ext cx="1123950" cy="133350"/>
          </a:xfrm>
          <a:prstGeom prst="roundRect">
            <a:avLst>
              <a:gd name="adj" fmla="val 28571"/>
            </a:avLst>
          </a:prstGeom>
          <a:solidFill>
            <a:srgbClr val="BCD6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9449395" y="5150048"/>
            <a:ext cx="1123950" cy="133350"/>
          </a:xfrm>
          <a:prstGeom prst="roundRect">
            <a:avLst>
              <a:gd name="adj" fmla="val 28571"/>
            </a:avLst>
          </a:prstGeom>
          <a:solidFill>
            <a:srgbClr val="BCD6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9449395" y="5378648"/>
            <a:ext cx="1123950" cy="133350"/>
          </a:xfrm>
          <a:prstGeom prst="roundRect">
            <a:avLst>
              <a:gd name="adj" fmla="val 28571"/>
            </a:avLst>
          </a:prstGeom>
          <a:solidFill>
            <a:srgbClr val="BCD6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10878145" y="4207073"/>
            <a:ext cx="5247531" cy="3429000"/>
          </a:xfrm>
          <a:prstGeom prst="roundRect">
            <a:avLst>
              <a:gd name="adj" fmla="val 2778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11011495" y="4340423"/>
            <a:ext cx="4980831" cy="266700"/>
          </a:xfrm>
          <a:prstGeom prst="roundRect">
            <a:avLst>
              <a:gd name="adj" fmla="val 21429"/>
            </a:avLst>
          </a:prstGeom>
          <a:solidFill>
            <a:srgbClr val="DCE7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11011495" y="4721423"/>
            <a:ext cx="935087" cy="876300"/>
          </a:xfrm>
          <a:prstGeom prst="roundRect">
            <a:avLst>
              <a:gd name="adj" fmla="val 6522"/>
            </a:avLst>
          </a:prstGeom>
          <a:solidFill>
            <a:srgbClr val="30FADF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12022782" y="4721423"/>
            <a:ext cx="935236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13034218" y="4721423"/>
            <a:ext cx="935236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14045654" y="4721423"/>
            <a:ext cx="935236" cy="876300"/>
          </a:xfrm>
          <a:prstGeom prst="roundRect">
            <a:avLst>
              <a:gd name="adj" fmla="val 6522"/>
            </a:avLst>
          </a:prstGeom>
          <a:solidFill>
            <a:srgbClr val="126B86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15057090" y="4721423"/>
            <a:ext cx="935087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11011495" y="5673923"/>
            <a:ext cx="935087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12022782" y="5673923"/>
            <a:ext cx="935236" cy="876300"/>
          </a:xfrm>
          <a:prstGeom prst="roundRect">
            <a:avLst>
              <a:gd name="adj" fmla="val 6522"/>
            </a:avLst>
          </a:prstGeom>
          <a:solidFill>
            <a:srgbClr val="126B86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13034218" y="5673923"/>
            <a:ext cx="935236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14045654" y="5673923"/>
            <a:ext cx="935236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15057090" y="5673923"/>
            <a:ext cx="935087" cy="876300"/>
          </a:xfrm>
          <a:prstGeom prst="roundRect">
            <a:avLst>
              <a:gd name="adj" fmla="val 6522"/>
            </a:avLst>
          </a:prstGeom>
          <a:solidFill>
            <a:srgbClr val="30FADF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11011495" y="6626423"/>
            <a:ext cx="935087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12022782" y="6626423"/>
            <a:ext cx="935236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13034218" y="6626423"/>
            <a:ext cx="935236" cy="876300"/>
          </a:xfrm>
          <a:prstGeom prst="roundRect">
            <a:avLst>
              <a:gd name="adj" fmla="val 6522"/>
            </a:avLst>
          </a:prstGeom>
          <a:solidFill>
            <a:srgbClr val="126B86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14045654" y="6626423"/>
            <a:ext cx="935236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15057090" y="6626423"/>
            <a:ext cx="935087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914400" y="9134475"/>
            <a:ext cx="52737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de Agendas Médicas</a:t>
            </a:r>
            <a:endParaRPr lang="en-US" sz="2025" dirty="0"/>
          </a:p>
        </p:txBody>
      </p:sp>
      <p:sp>
        <p:nvSpPr>
          <p:cNvPr id="49" name="Text 47"/>
          <p:cNvSpPr/>
          <p:nvPr/>
        </p:nvSpPr>
        <p:spPr>
          <a:xfrm>
            <a:off x="16620679" y="9134475"/>
            <a:ext cx="110065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17</a:t>
            </a:r>
            <a:endParaRPr lang="en-US" sz="20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33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0FA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428750" y="800100"/>
            <a:ext cx="1365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kern="0" spc="225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914400" y="1323975"/>
            <a:ext cx="18105120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75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Tecnologias e bibliotecas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914400" y="2118271"/>
            <a:ext cx="18105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puro, sem backend — os dados são simulados </a:t>
            </a:r>
            <a:r>
              <a:rPr lang="en-US" sz="240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(mock) </a:t>
            </a:r>
            <a:r>
              <a:rPr lang="en-US" sz="240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JavaScript.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3208139"/>
            <a:ext cx="4965650" cy="2551509"/>
          </a:xfrm>
          <a:prstGeom prst="roundRect">
            <a:avLst>
              <a:gd name="adj" fmla="val 6720"/>
            </a:avLst>
          </a:prstGeom>
          <a:solidFill>
            <a:srgbClr val="F5F5F5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247775" y="3541514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126B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36179" y="3703439"/>
            <a:ext cx="47074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30FA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247775" y="4303514"/>
            <a:ext cx="47287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+ CSS3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47775" y="4732139"/>
            <a:ext cx="4427867" cy="732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e estilo · CSS com variáveis, Flexbox e Grid.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6146750" y="3208139"/>
            <a:ext cx="4965650" cy="2551509"/>
          </a:xfrm>
          <a:prstGeom prst="roundRect">
            <a:avLst>
              <a:gd name="adj" fmla="val 6720"/>
            </a:avLst>
          </a:prstGeom>
          <a:solidFill>
            <a:srgbClr val="F5F5F5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480125" y="3541514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126B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622852" y="3689152"/>
            <a:ext cx="36209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30FA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6480125" y="4303514"/>
            <a:ext cx="47287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(vanilla)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80125" y="4732139"/>
            <a:ext cx="4427867" cy="732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 lógica do sistema, sem framework.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1379101" y="3208139"/>
            <a:ext cx="4965650" cy="2551509"/>
          </a:xfrm>
          <a:prstGeom prst="roundRect">
            <a:avLst>
              <a:gd name="adj" fmla="val 6720"/>
            </a:avLst>
          </a:prstGeom>
          <a:solidFill>
            <a:srgbClr val="F5F5F5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11712476" y="3541514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126B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1852523" y="3689152"/>
            <a:ext cx="3676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30F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1712476" y="4303514"/>
            <a:ext cx="47287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5.3.3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712476" y="4732139"/>
            <a:ext cx="4427867" cy="732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Modais, grid e componentes responsivos (CDN).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914400" y="6026348"/>
            <a:ext cx="4965650" cy="2551509"/>
          </a:xfrm>
          <a:prstGeom prst="roundRect">
            <a:avLst>
              <a:gd name="adj" fmla="val 6720"/>
            </a:avLst>
          </a:prstGeom>
          <a:solidFill>
            <a:srgbClr val="F5F5F5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247775" y="6359723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126B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411188" y="6469261"/>
            <a:ext cx="3207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0F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247775" y="7121723"/>
            <a:ext cx="47287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4.4.1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47775" y="7550348"/>
            <a:ext cx="4427867" cy="732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 de barras, rosca e linha (CDN).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6146750" y="6026348"/>
            <a:ext cx="4965650" cy="2551509"/>
          </a:xfrm>
          <a:prstGeom prst="roundRect">
            <a:avLst>
              <a:gd name="adj" fmla="val 6720"/>
            </a:avLst>
          </a:prstGeom>
          <a:solidFill>
            <a:srgbClr val="F5F5F5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6480125" y="6359723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126B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638925" y="6440686"/>
            <a:ext cx="33010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0F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480125" y="7121723"/>
            <a:ext cx="47287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 Awesome 7.0.1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480125" y="7550348"/>
            <a:ext cx="4728790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Biblioteca de ícones de linha (CDN).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11379101" y="6026348"/>
            <a:ext cx="4965650" cy="2551509"/>
          </a:xfrm>
          <a:prstGeom prst="roundRect">
            <a:avLst>
              <a:gd name="adj" fmla="val 6720"/>
            </a:avLst>
          </a:prstGeom>
          <a:solidFill>
            <a:srgbClr val="F5F5F5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11712476" y="6359723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126B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1875889" y="6469261"/>
            <a:ext cx="3207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0F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1712476" y="7121723"/>
            <a:ext cx="47287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IntersectionObserver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1712476" y="7550348"/>
            <a:ext cx="4427867" cy="732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</a:t>
            </a:r>
            <a:r>
              <a:rPr lang="en-US" sz="2025" dirty="0" err="1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nativa</a:t>
            </a:r>
            <a:r>
              <a:rPr lang="en-US" sz="20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animações ao rolar a página.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914400" y="9134475"/>
            <a:ext cx="52737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de Agendas Médicas</a:t>
            </a:r>
            <a:endParaRPr lang="en-US" sz="2025" dirty="0"/>
          </a:p>
        </p:txBody>
      </p:sp>
      <p:sp>
        <p:nvSpPr>
          <p:cNvPr id="37" name="Text 35"/>
          <p:cNvSpPr/>
          <p:nvPr/>
        </p:nvSpPr>
        <p:spPr>
          <a:xfrm>
            <a:off x="16610261" y="9134475"/>
            <a:ext cx="8395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17</a:t>
            </a:r>
            <a:endParaRPr lang="en-US" sz="20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33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0FA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428750" y="800100"/>
            <a:ext cx="46945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225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 DO PROJETO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914400" y="1323975"/>
            <a:ext cx="18105120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75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de arquivos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14400" y="2834580"/>
            <a:ext cx="14859000" cy="5210175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23925" y="3701355"/>
            <a:ext cx="14839950" cy="9525"/>
          </a:xfrm>
          <a:prstGeom prst="rect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304925" y="3106043"/>
            <a:ext cx="45053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26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5629275" y="3072705"/>
            <a:ext cx="107289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</a:t>
            </a:r>
            <a:r>
              <a:rPr lang="en-US" sz="2325" dirty="0" err="1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pública</a:t>
            </a:r>
            <a:r>
              <a:rPr lang="en-US" sz="23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site da clínica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923925" y="4568130"/>
            <a:ext cx="14839950" cy="9525"/>
          </a:xfrm>
          <a:prstGeom prst="rect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04925" y="3972818"/>
            <a:ext cx="45053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26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login.html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5629275" y="3939480"/>
            <a:ext cx="107289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com 2 </a:t>
            </a:r>
            <a:r>
              <a:rPr lang="en-US" sz="2325" dirty="0" err="1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perfis</a:t>
            </a:r>
            <a:r>
              <a:rPr lang="en-US" sz="23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colaborador / paciente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923925" y="5434905"/>
            <a:ext cx="14839950" cy="9525"/>
          </a:xfrm>
          <a:prstGeom prst="rect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04925" y="4839593"/>
            <a:ext cx="45053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26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dashboard.html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5629275" y="4806255"/>
            <a:ext cx="107289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</a:t>
            </a:r>
            <a:r>
              <a:rPr lang="en-US" sz="2325" dirty="0" err="1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interno</a:t>
            </a:r>
            <a:r>
              <a:rPr lang="en-US" sz="23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sistema de gestão</a:t>
            </a:r>
            <a:endParaRPr lang="en-US" sz="2325" dirty="0"/>
          </a:p>
        </p:txBody>
      </p:sp>
      <p:sp>
        <p:nvSpPr>
          <p:cNvPr id="15" name="Shape 13"/>
          <p:cNvSpPr/>
          <p:nvPr/>
        </p:nvSpPr>
        <p:spPr>
          <a:xfrm>
            <a:off x="923925" y="6301680"/>
            <a:ext cx="14839950" cy="9525"/>
          </a:xfrm>
          <a:prstGeom prst="rect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304925" y="5706368"/>
            <a:ext cx="45053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26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portal-paciente.html</a:t>
            </a:r>
            <a:endParaRPr lang="en-US" sz="2325" dirty="0"/>
          </a:p>
        </p:txBody>
      </p:sp>
      <p:sp>
        <p:nvSpPr>
          <p:cNvPr id="17" name="Text 15"/>
          <p:cNvSpPr/>
          <p:nvPr/>
        </p:nvSpPr>
        <p:spPr>
          <a:xfrm>
            <a:off x="5629275" y="5673030"/>
            <a:ext cx="107289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do </a:t>
            </a:r>
            <a:r>
              <a:rPr lang="en-US" sz="2325" dirty="0" err="1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</a:t>
            </a:r>
            <a:r>
              <a:rPr lang="en-US" sz="23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marcar / ver consultas</a:t>
            </a:r>
            <a:endParaRPr lang="en-US" sz="2325" dirty="0"/>
          </a:p>
        </p:txBody>
      </p:sp>
      <p:sp>
        <p:nvSpPr>
          <p:cNvPr id="18" name="Shape 16"/>
          <p:cNvSpPr/>
          <p:nvPr/>
        </p:nvSpPr>
        <p:spPr>
          <a:xfrm>
            <a:off x="923925" y="6311205"/>
            <a:ext cx="14839950" cy="866775"/>
          </a:xfrm>
          <a:prstGeom prst="rect">
            <a:avLst/>
          </a:prstGeom>
          <a:solidFill>
            <a:srgbClr val="FBFDF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923925" y="7168455"/>
            <a:ext cx="14839950" cy="9525"/>
          </a:xfrm>
          <a:prstGeom prst="rect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304925" y="6573143"/>
            <a:ext cx="45053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0D4F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2325" dirty="0"/>
          </a:p>
        </p:txBody>
      </p:sp>
      <p:sp>
        <p:nvSpPr>
          <p:cNvPr id="21" name="Text 19"/>
          <p:cNvSpPr/>
          <p:nvPr/>
        </p:nvSpPr>
        <p:spPr>
          <a:xfrm>
            <a:off x="5629275" y="6539805"/>
            <a:ext cx="107289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mockados + lógica do dashboard</a:t>
            </a:r>
            <a:endParaRPr lang="en-US" sz="2325" dirty="0"/>
          </a:p>
        </p:txBody>
      </p:sp>
      <p:sp>
        <p:nvSpPr>
          <p:cNvPr id="22" name="Shape 20"/>
          <p:cNvSpPr/>
          <p:nvPr/>
        </p:nvSpPr>
        <p:spPr>
          <a:xfrm>
            <a:off x="923925" y="7177980"/>
            <a:ext cx="14839950" cy="857250"/>
          </a:xfrm>
          <a:prstGeom prst="rect">
            <a:avLst/>
          </a:prstGeom>
          <a:solidFill>
            <a:srgbClr val="FBFDF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304925" y="7439918"/>
            <a:ext cx="45053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0D4F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2325" dirty="0"/>
          </a:p>
        </p:txBody>
      </p:sp>
      <p:sp>
        <p:nvSpPr>
          <p:cNvPr id="24" name="Text 22"/>
          <p:cNvSpPr/>
          <p:nvPr/>
        </p:nvSpPr>
        <p:spPr>
          <a:xfrm>
            <a:off x="5629275" y="7406580"/>
            <a:ext cx="107289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 err="1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Estilos</a:t>
            </a:r>
            <a:r>
              <a:rPr lang="en-US" sz="23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paleta + todos os componentes</a:t>
            </a:r>
            <a:endParaRPr lang="en-US" sz="2325" dirty="0"/>
          </a:p>
        </p:txBody>
      </p:sp>
      <p:sp>
        <p:nvSpPr>
          <p:cNvPr id="25" name="Text 23"/>
          <p:cNvSpPr/>
          <p:nvPr/>
        </p:nvSpPr>
        <p:spPr>
          <a:xfrm>
            <a:off x="914400" y="9134475"/>
            <a:ext cx="52737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de Agendas Médicas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16638091" y="9134475"/>
            <a:ext cx="9673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17</a:t>
            </a:r>
            <a:endParaRPr lang="en-US" sz="20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33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0FA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428750" y="800100"/>
            <a:ext cx="37723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225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DO USUÁRIO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914400" y="1323975"/>
            <a:ext cx="18105120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75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navegação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1428750" y="5007173"/>
            <a:ext cx="2857500" cy="1390650"/>
          </a:xfrm>
          <a:prstGeom prst="roundRect">
            <a:avLst>
              <a:gd name="adj" fmla="val 12329"/>
            </a:avLst>
          </a:prstGeom>
          <a:solidFill>
            <a:srgbClr val="F5F5F5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652587" y="5340548"/>
            <a:ext cx="24098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26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652587" y="5712023"/>
            <a:ext cx="24098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0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da clínica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5163443" y="5497711"/>
            <a:ext cx="18419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/ Agendar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4362450" y="5878711"/>
            <a:ext cx="3276600" cy="28575"/>
          </a:xfrm>
          <a:prstGeom prst="rect">
            <a:avLst/>
          </a:prstGeom>
          <a:gradFill rotWithShape="1">
            <a:gsLst>
              <a:gs pos="0">
                <a:srgbClr val="30FADF">
                  <a:alpha val="100000"/>
                </a:srgbClr>
              </a:gs>
              <a:gs pos="100000">
                <a:srgbClr val="126B86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466335" y="5770958"/>
            <a:ext cx="2978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25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7715250" y="5016698"/>
            <a:ext cx="2857500" cy="1371600"/>
          </a:xfrm>
          <a:prstGeom prst="roundRect">
            <a:avLst>
              <a:gd name="adj" fmla="val 12500"/>
            </a:avLst>
          </a:prstGeom>
          <a:solidFill>
            <a:srgbClr val="126B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928610" y="5340548"/>
            <a:ext cx="24307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0FA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login.html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7928610" y="5712023"/>
            <a:ext cx="24307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0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do perfil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1678320" y="4873823"/>
            <a:ext cx="15649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2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Colaborador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10642923" y="5188148"/>
            <a:ext cx="3276600" cy="28575"/>
          </a:xfrm>
          <a:prstGeom prst="rect">
            <a:avLst/>
          </a:prstGeom>
          <a:solidFill>
            <a:srgbClr val="2F7F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3770620" y="5092898"/>
            <a:ext cx="2978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25" dirty="0">
                <a:solidFill>
                  <a:srgbClr val="2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1860856" y="5864423"/>
            <a:ext cx="107409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2B9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0648950" y="6178748"/>
            <a:ext cx="3276600" cy="28575"/>
          </a:xfrm>
          <a:prstGeom prst="rect">
            <a:avLst/>
          </a:prstGeom>
          <a:solidFill>
            <a:srgbClr val="2B9D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3770620" y="6069210"/>
            <a:ext cx="2978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25" dirty="0">
                <a:solidFill>
                  <a:srgbClr val="2B9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4001750" y="4430910"/>
            <a:ext cx="2857500" cy="1152525"/>
          </a:xfrm>
          <a:prstGeom prst="roundRect">
            <a:avLst>
              <a:gd name="adj" fmla="val 14876"/>
            </a:avLst>
          </a:prstGeom>
          <a:solidFill>
            <a:srgbClr val="F5F5F5"/>
          </a:solidFill>
          <a:ln w="9525">
            <a:solidFill>
              <a:srgbClr val="2F7F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4141768" y="4688085"/>
            <a:ext cx="25774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2F7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dashboard.html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4141768" y="4992885"/>
            <a:ext cx="25774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gestão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4001750" y="5692973"/>
            <a:ext cx="2857500" cy="1400175"/>
          </a:xfrm>
          <a:prstGeom prst="roundRect">
            <a:avLst>
              <a:gd name="adj" fmla="val 12245"/>
            </a:avLst>
          </a:prstGeom>
          <a:solidFill>
            <a:srgbClr val="F5F5F5"/>
          </a:solidFill>
          <a:ln w="9525">
            <a:solidFill>
              <a:srgbClr val="2B9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4220825" y="5950148"/>
            <a:ext cx="24193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2B9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portal-paciente.html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14141768" y="6502598"/>
            <a:ext cx="25774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do paciente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914400" y="9134475"/>
            <a:ext cx="52737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de Agendas Médicas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6618000" y="9134475"/>
            <a:ext cx="102605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17</a:t>
            </a:r>
            <a:endParaRPr lang="en-US" sz="20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33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0FA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428750" y="800100"/>
            <a:ext cx="202772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225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914400" y="1323975"/>
            <a:ext cx="18105120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75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page: recursos visuais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914400" y="3695849"/>
            <a:ext cx="2315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0F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241227" y="3676799"/>
            <a:ext cx="605877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Contadores animados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41227" y="4133999"/>
            <a:ext cx="605877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contam do zero ao entrar na tela.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4722614"/>
            <a:ext cx="2315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0F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241227" y="4703564"/>
            <a:ext cx="584988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 de atendimento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41227" y="5160764"/>
            <a:ext cx="584988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mês (linha) e por especialidade (rosca).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5749379"/>
            <a:ext cx="2315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0F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241227" y="5730329"/>
            <a:ext cx="63182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Animação de scroll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41227" y="6187529"/>
            <a:ext cx="631826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Seções surgem suavemente (classe </a:t>
            </a:r>
            <a:r>
              <a:rPr lang="en-US" sz="1800" dirty="0">
                <a:solidFill>
                  <a:srgbClr val="126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.visivel</a:t>
            </a:r>
            <a:r>
              <a:rPr lang="en-US" sz="210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6833295"/>
            <a:ext cx="6928842" cy="1468487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914400" y="6833295"/>
            <a:ext cx="38100" cy="1468487"/>
          </a:xfrm>
          <a:prstGeom prst="rect">
            <a:avLst/>
          </a:prstGeom>
          <a:solidFill>
            <a:srgbClr val="126B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200150" y="7042845"/>
            <a:ext cx="6603307" cy="1087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código: </a:t>
            </a:r>
            <a:r>
              <a:rPr lang="en-US" sz="195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IntersectionObserver </a:t>
            </a:r>
            <a:r>
              <a:rPr lang="en-US" sz="195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dispara animações, contadores ( </a:t>
            </a:r>
            <a:r>
              <a:rPr lang="en-US" sz="1725" dirty="0">
                <a:solidFill>
                  <a:srgbClr val="2345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requestAnimationFrame </a:t>
            </a:r>
            <a:r>
              <a:rPr lang="en-US" sz="195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e cria os gráficos só quando ficam visíveis.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76642" y="2384971"/>
            <a:ext cx="7672045" cy="6759029"/>
          </a:xfrm>
          <a:prstGeom prst="roundRect">
            <a:avLst>
              <a:gd name="adj" fmla="val 2643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blurRad="419100" dist="152400" dir="5400000" algn="bl" rotWithShape="0">
              <a:srgbClr val="126B86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690967" y="2680246"/>
            <a:ext cx="807340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Atendimentos por mês · 2026</a:t>
            </a:r>
            <a:endParaRPr lang="en-US" sz="18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967" y="3108871"/>
            <a:ext cx="7339459" cy="2685157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8690967" y="5984528"/>
            <a:ext cx="7339459" cy="9525"/>
          </a:xfrm>
          <a:prstGeom prst="rect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8690967" y="6184553"/>
            <a:ext cx="807340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especialidade</a:t>
            </a:r>
            <a:endParaRPr lang="en-US" sz="18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967" y="6613178"/>
            <a:ext cx="7339459" cy="2685157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38200" y="9220871"/>
            <a:ext cx="52737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de Agendas Médicas</a:t>
            </a:r>
            <a:endParaRPr lang="en-US" sz="2025" dirty="0"/>
          </a:p>
        </p:txBody>
      </p:sp>
      <p:sp>
        <p:nvSpPr>
          <p:cNvPr id="24" name="Text 20"/>
          <p:cNvSpPr/>
          <p:nvPr/>
        </p:nvSpPr>
        <p:spPr>
          <a:xfrm>
            <a:off x="16610261" y="9416133"/>
            <a:ext cx="8395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17</a:t>
            </a:r>
            <a:endParaRPr lang="en-US" sz="20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33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0FA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428750" y="800100"/>
            <a:ext cx="20434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225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LOGIN.HTML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914400" y="1323975"/>
            <a:ext cx="18105120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75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de login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14400" y="3668911"/>
            <a:ext cx="7200900" cy="1847850"/>
          </a:xfrm>
          <a:prstGeom prst="roundRect">
            <a:avLst>
              <a:gd name="adj" fmla="val 9278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85875" y="4002286"/>
            <a:ext cx="71037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Colaborador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85875" y="4402336"/>
            <a:ext cx="6651689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5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Médico, assistente ou administrativo. O campo </a:t>
            </a:r>
            <a:r>
              <a:rPr lang="en-US" sz="2250" b="1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Função </a:t>
            </a:r>
            <a:r>
              <a:rPr lang="en-US" sz="225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aparece apenas aqui. → </a:t>
            </a:r>
            <a:r>
              <a:rPr lang="en-US" sz="1875" dirty="0">
                <a:solidFill>
                  <a:srgbClr val="126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dashboard.html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5745361"/>
            <a:ext cx="7200900" cy="1838325"/>
          </a:xfrm>
          <a:prstGeom prst="roundRect">
            <a:avLst>
              <a:gd name="adj" fmla="val 9326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285875" y="6078736"/>
            <a:ext cx="71037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B9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85875" y="6478786"/>
            <a:ext cx="665168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5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à área de agendamento. → </a:t>
            </a:r>
            <a:r>
              <a:rPr lang="en-US" sz="1875" dirty="0">
                <a:solidFill>
                  <a:srgbClr val="126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portal-paciente.html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8572500" y="3785741"/>
            <a:ext cx="7200900" cy="3681115"/>
          </a:xfrm>
          <a:prstGeom prst="roundRect">
            <a:avLst>
              <a:gd name="adj" fmla="val 4658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blurRad="419100" dist="152400" dir="5400000" algn="bl" rotWithShape="0">
              <a:srgbClr val="126B86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963025" y="4176266"/>
            <a:ext cx="706183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 no código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8963025" y="4728716"/>
            <a:ext cx="2800796" cy="390525"/>
          </a:xfrm>
          <a:prstGeom prst="roundRect">
            <a:avLst>
              <a:gd name="adj" fmla="val 19512"/>
            </a:avLst>
          </a:prstGeom>
          <a:solidFill>
            <a:srgbClr val="E8F1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077325" y="4785866"/>
            <a:ext cx="26562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D4F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selecionarPerfil()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1916221" y="4728716"/>
            <a:ext cx="3570653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 a aba ativa e mostra/esconde o campo de função.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8963025" y="5902970"/>
            <a:ext cx="1371898" cy="390525"/>
          </a:xfrm>
          <a:prstGeom prst="roundRect">
            <a:avLst>
              <a:gd name="adj" fmla="val 19512"/>
            </a:avLst>
          </a:prstGeom>
          <a:solidFill>
            <a:srgbClr val="E8F1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077325" y="5960120"/>
            <a:ext cx="12194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D4F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entrar()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487323" y="5902970"/>
            <a:ext cx="5042419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Redireciona conforme o perfil selecionado.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8963025" y="6800106"/>
            <a:ext cx="70618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i="1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Protótipo: a autenticação é simulada.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14400" y="9134475"/>
            <a:ext cx="52737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de Agendas Médicas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16665475" y="9134475"/>
            <a:ext cx="96570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20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33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0FA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428750" y="800100"/>
            <a:ext cx="55486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225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DASHBOARD.HTML · REQUISITO 8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914400" y="1323975"/>
            <a:ext cx="18105120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75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visão geral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14400" y="2346871"/>
            <a:ext cx="8318450" cy="6520904"/>
          </a:xfrm>
          <a:prstGeom prst="roundRect">
            <a:avLst>
              <a:gd name="adj" fmla="val 2921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blurRad="419100" dist="152400" dir="5400000" algn="bl" rotWithShape="0">
              <a:srgbClr val="126B86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09675" y="2849761"/>
            <a:ext cx="850069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por médico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245" y="3259336"/>
            <a:ext cx="5662613" cy="2209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09675" y="5602486"/>
            <a:ext cx="7727900" cy="9525"/>
          </a:xfrm>
          <a:prstGeom prst="rect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1209675" y="5745361"/>
            <a:ext cx="850069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por status</a:t>
            </a:r>
            <a:endParaRPr lang="en-US" sz="1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2245" y="6154936"/>
            <a:ext cx="5662613" cy="2209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90050" y="3349823"/>
            <a:ext cx="1676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Topbar</a:t>
            </a:r>
            <a:endParaRPr lang="en-US" sz="2025" dirty="0"/>
          </a:p>
        </p:txBody>
      </p:sp>
      <p:sp>
        <p:nvSpPr>
          <p:cNvPr id="12" name="Text 8"/>
          <p:cNvSpPr/>
          <p:nvPr/>
        </p:nvSpPr>
        <p:spPr>
          <a:xfrm>
            <a:off x="11366450" y="3340298"/>
            <a:ext cx="486319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global + “Novo Agendamento”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9690050" y="3892748"/>
            <a:ext cx="1676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</a:t>
            </a:r>
            <a:endParaRPr lang="en-US" sz="2025" dirty="0"/>
          </a:p>
        </p:txBody>
      </p:sp>
      <p:sp>
        <p:nvSpPr>
          <p:cNvPr id="14" name="Text 10"/>
          <p:cNvSpPr/>
          <p:nvPr/>
        </p:nvSpPr>
        <p:spPr>
          <a:xfrm>
            <a:off x="11366450" y="3883223"/>
            <a:ext cx="5127803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Agenda, Pacientes, Médicos…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9690050" y="4769048"/>
            <a:ext cx="1676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</a:t>
            </a:r>
            <a:endParaRPr lang="en-US" sz="2025" dirty="0"/>
          </a:p>
        </p:txBody>
      </p:sp>
      <p:sp>
        <p:nvSpPr>
          <p:cNvPr id="16" name="Text 12"/>
          <p:cNvSpPr/>
          <p:nvPr/>
        </p:nvSpPr>
        <p:spPr>
          <a:xfrm>
            <a:off x="11366450" y="4759523"/>
            <a:ext cx="5127803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Consultas, pendentes, faturamento, ocupação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9690050" y="5645348"/>
            <a:ext cx="1676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</a:t>
            </a:r>
            <a:endParaRPr lang="en-US" sz="2025" dirty="0"/>
          </a:p>
        </p:txBody>
      </p:sp>
      <p:sp>
        <p:nvSpPr>
          <p:cNvPr id="18" name="Text 14"/>
          <p:cNvSpPr/>
          <p:nvPr/>
        </p:nvSpPr>
        <p:spPr>
          <a:xfrm>
            <a:off x="11366450" y="5635823"/>
            <a:ext cx="540524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médico (barras) e por status (rosca)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9690050" y="6188273"/>
            <a:ext cx="1600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semanal</a:t>
            </a:r>
            <a:endParaRPr lang="en-US" sz="2025" dirty="0"/>
          </a:p>
        </p:txBody>
      </p:sp>
      <p:sp>
        <p:nvSpPr>
          <p:cNvPr id="20" name="Text 16"/>
          <p:cNvSpPr/>
          <p:nvPr/>
        </p:nvSpPr>
        <p:spPr>
          <a:xfrm>
            <a:off x="11366450" y="6178748"/>
            <a:ext cx="535825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Grade: colunas = dias · linhas = horários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9690050" y="7112198"/>
            <a:ext cx="1600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+ Modais</a:t>
            </a:r>
            <a:endParaRPr lang="en-US" sz="2025" dirty="0"/>
          </a:p>
        </p:txBody>
      </p:sp>
      <p:sp>
        <p:nvSpPr>
          <p:cNvPr id="22" name="Text 18"/>
          <p:cNvSpPr/>
          <p:nvPr/>
        </p:nvSpPr>
        <p:spPr>
          <a:xfrm>
            <a:off x="11366450" y="7102673"/>
            <a:ext cx="539312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atual + detalhe e novo agendamento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914400" y="9134475"/>
            <a:ext cx="52737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de Agendas Médicas</a:t>
            </a:r>
            <a:endParaRPr lang="en-US" sz="2025" dirty="0"/>
          </a:p>
        </p:txBody>
      </p:sp>
      <p:sp>
        <p:nvSpPr>
          <p:cNvPr id="24" name="Text 20"/>
          <p:cNvSpPr/>
          <p:nvPr/>
        </p:nvSpPr>
        <p:spPr>
          <a:xfrm>
            <a:off x="16722029" y="9134475"/>
            <a:ext cx="87051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20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33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0FA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428750" y="800100"/>
            <a:ext cx="38039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225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VISUAL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914400" y="1323975"/>
            <a:ext cx="18105120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75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de consulta e cores semânticas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14400" y="4483298"/>
            <a:ext cx="361950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381000" dist="152400" dir="5400000" algn="bl" rotWithShape="0">
              <a:srgbClr val="126B86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14400" y="6759773"/>
            <a:ext cx="3619500" cy="9525"/>
          </a:xfrm>
          <a:prstGeom prst="rect">
            <a:avLst/>
          </a:prstGeom>
          <a:solidFill>
            <a:srgbClr val="E3E8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14400" y="4483298"/>
            <a:ext cx="3619500" cy="9525"/>
          </a:xfrm>
          <a:prstGeom prst="rect">
            <a:avLst/>
          </a:prstGeom>
          <a:solidFill>
            <a:srgbClr val="E3E8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14400" y="4483298"/>
            <a:ext cx="57150" cy="2286000"/>
          </a:xfrm>
          <a:prstGeom prst="rect">
            <a:avLst/>
          </a:prstGeom>
          <a:solidFill>
            <a:srgbClr val="2B9D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524375" y="4483298"/>
            <a:ext cx="9525" cy="2286000"/>
          </a:xfrm>
          <a:prstGeom prst="rect">
            <a:avLst/>
          </a:prstGeom>
          <a:solidFill>
            <a:srgbClr val="E3E8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276350" y="4778573"/>
            <a:ext cx="88671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2880717" y="4792861"/>
            <a:ext cx="1338858" cy="342900"/>
          </a:xfrm>
          <a:prstGeom prst="roundRect">
            <a:avLst>
              <a:gd name="adj" fmla="val 50000"/>
            </a:avLst>
          </a:prstGeom>
          <a:solidFill>
            <a:srgbClr val="2B9D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033117" y="4850011"/>
            <a:ext cx="121503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Confirmado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1276350" y="5321498"/>
            <a:ext cx="323754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Silva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76350" y="5731073"/>
            <a:ext cx="297179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Carlos Andrade Sala 3 · 30 min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067300" y="3577530"/>
            <a:ext cx="8829675" cy="91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card mostra </a:t>
            </a:r>
            <a:r>
              <a:rPr lang="en-US" sz="240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horário, paciente, médico, status, duração e sala </a:t>
            </a:r>
            <a:r>
              <a:rPr lang="en-US" sz="240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As cores comunicam o status num relance.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67300" y="4826198"/>
            <a:ext cx="209550" cy="209550"/>
          </a:xfrm>
          <a:prstGeom prst="ellipse">
            <a:avLst/>
          </a:prstGeom>
          <a:solidFill>
            <a:srgbClr val="2B9D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410200" y="4735711"/>
            <a:ext cx="174663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Confirmado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258300" y="4826198"/>
            <a:ext cx="209550" cy="209550"/>
          </a:xfrm>
          <a:prstGeom prst="ellipse">
            <a:avLst/>
          </a:prstGeom>
          <a:solidFill>
            <a:srgbClr val="2F7FD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601200" y="4735711"/>
            <a:ext cx="240327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atendimento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5067300" y="5369123"/>
            <a:ext cx="209550" cy="209550"/>
          </a:xfrm>
          <a:prstGeom prst="ellipse">
            <a:avLst/>
          </a:prstGeom>
          <a:solidFill>
            <a:srgbClr val="E0A01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410200" y="5278636"/>
            <a:ext cx="153086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espera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258300" y="5369123"/>
            <a:ext cx="209550" cy="209550"/>
          </a:xfrm>
          <a:prstGeom prst="ellipse">
            <a:avLst/>
          </a:prstGeom>
          <a:solidFill>
            <a:srgbClr val="9AA7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9601200" y="5278636"/>
            <a:ext cx="14737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Finalizado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5067300" y="5912048"/>
            <a:ext cx="209550" cy="209550"/>
          </a:xfrm>
          <a:prstGeom prst="ellipse">
            <a:avLst/>
          </a:prstGeom>
          <a:solidFill>
            <a:srgbClr val="D24B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410200" y="5821561"/>
            <a:ext cx="158243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Cancelado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5232737" y="6454972"/>
            <a:ext cx="8616613" cy="1297483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324475" y="6716911"/>
            <a:ext cx="8315325" cy="77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234567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Ao clicar, abre um </a:t>
            </a:r>
            <a:r>
              <a:rPr lang="en-US" sz="2025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</a:t>
            </a:r>
            <a:r>
              <a:rPr lang="en-US" sz="2025" dirty="0">
                <a:solidFill>
                  <a:srgbClr val="234567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com </a:t>
            </a:r>
            <a:r>
              <a:rPr lang="en-US" sz="2025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/ Cancelar </a:t>
            </a:r>
            <a:r>
              <a:rPr lang="en-US" sz="2025" dirty="0">
                <a:solidFill>
                  <a:srgbClr val="234567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que atualizam status, KPIs e gráficos na hora.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914400" y="9134475"/>
            <a:ext cx="52737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de Agendas Médicas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16677680" y="9134475"/>
            <a:ext cx="9277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2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33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0FA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428750" y="800100"/>
            <a:ext cx="1479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kern="0" spc="225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914400" y="1304925"/>
            <a:ext cx="1810512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5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código funciona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040136"/>
            <a:ext cx="18105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é dirigido por dados: </a:t>
            </a:r>
            <a:r>
              <a:rPr lang="en-US" sz="2325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mudou o dado, as funções re-desenham a tela.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914400" y="3670399"/>
            <a:ext cx="5003750" cy="1878806"/>
          </a:xfrm>
          <a:prstGeom prst="roundRect">
            <a:avLst>
              <a:gd name="adj" fmla="val 8112"/>
            </a:avLst>
          </a:prstGeom>
          <a:solidFill>
            <a:srgbClr val="0D4F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200150" y="3937099"/>
            <a:ext cx="48754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0FA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 mockados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00150" y="4318099"/>
            <a:ext cx="4565218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 MEDICOS, CONSULTAS, HORARIOS, DIAS e o objeto STATUS_INFO.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127700" y="3670399"/>
            <a:ext cx="5003750" cy="1878806"/>
          </a:xfrm>
          <a:prstGeom prst="roundRect">
            <a:avLst>
              <a:gd name="adj" fmla="val 8112"/>
            </a:avLst>
          </a:prstGeom>
          <a:solidFill>
            <a:srgbClr val="F5F5F5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22975" y="3946624"/>
            <a:ext cx="48545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26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renderAgenda()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422975" y="4327624"/>
            <a:ext cx="4545596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 a grade e posiciona cada consulta no cruzamento dia × horário.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1341001" y="3670399"/>
            <a:ext cx="5003750" cy="1878806"/>
          </a:xfrm>
          <a:prstGeom prst="roundRect">
            <a:avLst>
              <a:gd name="adj" fmla="val 8112"/>
            </a:avLst>
          </a:prstGeom>
          <a:solidFill>
            <a:srgbClr val="F5F5F5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1636276" y="3946624"/>
            <a:ext cx="48545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26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consultasFiltradas()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636276" y="4327624"/>
            <a:ext cx="4545596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os filtros e re-renderiza a agenda sem recarregar a página.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14400" y="5758755"/>
            <a:ext cx="5003750" cy="2183606"/>
          </a:xfrm>
          <a:prstGeom prst="roundRect">
            <a:avLst>
              <a:gd name="adj" fmla="val 6979"/>
            </a:avLst>
          </a:prstGeom>
          <a:solidFill>
            <a:srgbClr val="F5F5F5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209675" y="6034980"/>
            <a:ext cx="48545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26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initBuscaGlobal()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09675" y="6415980"/>
            <a:ext cx="4545596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instantânea com debounce (250 ms) e autocomplete.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6127700" y="5758755"/>
            <a:ext cx="5003750" cy="2183606"/>
          </a:xfrm>
          <a:prstGeom prst="roundRect">
            <a:avLst>
              <a:gd name="adj" fmla="val 6979"/>
            </a:avLst>
          </a:prstGeom>
          <a:solidFill>
            <a:srgbClr val="F5F5F5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22975" y="6034980"/>
            <a:ext cx="48545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26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renderKPIs()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422975" y="6415980"/>
            <a:ext cx="4545596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os indicadores a partir dos dados.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1341001" y="5758755"/>
            <a:ext cx="5003750" cy="2183606"/>
          </a:xfrm>
          <a:prstGeom prst="roundRect">
            <a:avLst>
              <a:gd name="adj" fmla="val 6979"/>
            </a:avLst>
          </a:prstGeom>
          <a:solidFill>
            <a:srgbClr val="F5F5F5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1636276" y="6034980"/>
            <a:ext cx="454559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26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renderGraficos() · renderTimeline()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636276" y="6701730"/>
            <a:ext cx="4545596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 os gráficos do Chart.js e a timeline do dia, com indicador de “agora”.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914400" y="9134475"/>
            <a:ext cx="52737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de Agendas Médicas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6681847" y="9134475"/>
            <a:ext cx="100084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20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33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0FA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428750" y="800100"/>
            <a:ext cx="44745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225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VS. DOCUMENTO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914400" y="1323975"/>
            <a:ext cx="18105120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75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aos requisitos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35736" y="4511873"/>
            <a:ext cx="361950" cy="361950"/>
          </a:xfrm>
          <a:prstGeom prst="ellipse">
            <a:avLst/>
          </a:prstGeom>
          <a:solidFill>
            <a:srgbClr val="2B9D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97636" y="4511873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469136" y="4483298"/>
            <a:ext cx="6789039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Topbar, Sidebar, Dashboard com KPIs e gráficos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686800" y="4511873"/>
            <a:ext cx="361950" cy="361950"/>
          </a:xfrm>
          <a:prstGeom prst="ellipse">
            <a:avLst/>
          </a:prstGeom>
          <a:solidFill>
            <a:srgbClr val="2B9D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648700" y="4511873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9220200" y="4483298"/>
            <a:ext cx="325506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operacional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" y="5302448"/>
            <a:ext cx="361950" cy="361950"/>
          </a:xfrm>
          <a:prstGeom prst="ellipse">
            <a:avLst/>
          </a:prstGeom>
          <a:solidFill>
            <a:srgbClr val="2B9D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76300" y="530244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447800" y="5273873"/>
            <a:ext cx="715498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semanal (grade dia × horário) e visões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648700" y="5302448"/>
            <a:ext cx="361950" cy="361950"/>
          </a:xfrm>
          <a:prstGeom prst="ellipse">
            <a:avLst/>
          </a:prstGeom>
          <a:solidFill>
            <a:srgbClr val="2B9D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610600" y="530244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220200" y="5273873"/>
            <a:ext cx="6789039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UX: feedback visual, animações, responsividade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14400" y="6140648"/>
            <a:ext cx="361950" cy="361950"/>
          </a:xfrm>
          <a:prstGeom prst="ellipse">
            <a:avLst/>
          </a:prstGeom>
          <a:solidFill>
            <a:srgbClr val="2B9D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76300" y="614064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447800" y="6112073"/>
            <a:ext cx="64274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de consulta com cores semânticas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648700" y="6140648"/>
            <a:ext cx="361950" cy="361950"/>
          </a:xfrm>
          <a:prstGeom prst="ellipse">
            <a:avLst/>
          </a:prstGeom>
          <a:solidFill>
            <a:srgbClr val="2B9D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610600" y="614064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9182100" y="6112073"/>
            <a:ext cx="642188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Acessibilidade: labels, teclado, contraste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14400" y="7035998"/>
            <a:ext cx="361950" cy="361950"/>
          </a:xfrm>
          <a:prstGeom prst="ellipse">
            <a:avLst/>
          </a:prstGeom>
          <a:solidFill>
            <a:srgbClr val="2B9D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876300" y="703599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447800" y="7007423"/>
            <a:ext cx="699258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sem reload + busca global (debounce)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14400" y="9134475"/>
            <a:ext cx="52737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de Agendas Médicas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6673215" y="9134475"/>
            <a:ext cx="90644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20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D4F64">
                  <a:alpha val="100000"/>
                </a:srgbClr>
              </a:gs>
              <a:gs pos="60000">
                <a:srgbClr val="126B86">
                  <a:alpha val="100000"/>
                </a:srgbClr>
              </a:gs>
              <a:gs pos="100000">
                <a:srgbClr val="1A8BA8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952500" y="70485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30FADF">
                  <a:alpha val="16000"/>
                </a:srgbClr>
              </a:gs>
              <a:gs pos="70000">
                <a:srgbClr val="30FAD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14400" y="306452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0FA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28750" y="2931170"/>
            <a:ext cx="14568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300" dirty="0">
                <a:solidFill>
                  <a:srgbClr val="30F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914400" y="3493145"/>
            <a:ext cx="1810512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175" b="1" kern="0" spc="-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</a:t>
            </a:r>
            <a:endParaRPr lang="en-US" sz="8175" dirty="0"/>
          </a:p>
        </p:txBody>
      </p:sp>
      <p:sp>
        <p:nvSpPr>
          <p:cNvPr id="7" name="Shape 5"/>
          <p:cNvSpPr/>
          <p:nvPr/>
        </p:nvSpPr>
        <p:spPr>
          <a:xfrm>
            <a:off x="914400" y="5064770"/>
            <a:ext cx="4775150" cy="2291060"/>
          </a:xfrm>
          <a:prstGeom prst="roundRect">
            <a:avLst>
              <a:gd name="adj" fmla="val 748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0FAD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228725" y="5379095"/>
            <a:ext cx="45611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0F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28725" y="5845820"/>
            <a:ext cx="4561150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→ Login (escolher perfil)</a:t>
            </a:r>
            <a:endParaRPr lang="en-US" sz="2325" dirty="0"/>
          </a:p>
        </p:txBody>
      </p:sp>
      <p:sp>
        <p:nvSpPr>
          <p:cNvPr id="10" name="Shape 8"/>
          <p:cNvSpPr/>
          <p:nvPr/>
        </p:nvSpPr>
        <p:spPr>
          <a:xfrm>
            <a:off x="5956250" y="5064770"/>
            <a:ext cx="4775299" cy="2291060"/>
          </a:xfrm>
          <a:prstGeom prst="roundRect">
            <a:avLst>
              <a:gd name="adj" fmla="val 748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0FAD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270575" y="5379095"/>
            <a:ext cx="456131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0F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70575" y="5845820"/>
            <a:ext cx="4271049" cy="1233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KPIs, filtros, busca, abrir card, confirmar / cancelar</a:t>
            </a:r>
            <a:endParaRPr lang="en-US" sz="2325" dirty="0"/>
          </a:p>
        </p:txBody>
      </p:sp>
      <p:sp>
        <p:nvSpPr>
          <p:cNvPr id="13" name="Shape 11"/>
          <p:cNvSpPr/>
          <p:nvPr/>
        </p:nvSpPr>
        <p:spPr>
          <a:xfrm>
            <a:off x="10998250" y="5064770"/>
            <a:ext cx="4775150" cy="2291060"/>
          </a:xfrm>
          <a:prstGeom prst="roundRect">
            <a:avLst>
              <a:gd name="adj" fmla="val 748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0FAD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1312575" y="5379095"/>
            <a:ext cx="45611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0F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312575" y="5845820"/>
            <a:ext cx="4270895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do paciente: marcar uma consulta</a:t>
            </a:r>
            <a:endParaRPr lang="en-US" sz="23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33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0FA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428750" y="800100"/>
            <a:ext cx="228949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225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914400" y="1323975"/>
            <a:ext cx="18105120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75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e próximos passos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914400" y="2194471"/>
            <a:ext cx="14668500" cy="527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Entregamos um frontend </a:t>
            </a:r>
            <a:r>
              <a:rPr lang="en-US" sz="2700" b="1" dirty="0">
                <a:solidFill>
                  <a:srgbClr val="12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completo, moderno e alinhado </a:t>
            </a:r>
            <a:r>
              <a:rPr lang="en-US" sz="2700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documento de requisitos.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599980"/>
            <a:ext cx="7258050" cy="2770733"/>
          </a:xfrm>
          <a:prstGeom prst="roundRect">
            <a:avLst>
              <a:gd name="adj" fmla="val 687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14400" y="4599980"/>
            <a:ext cx="7258050" cy="47625"/>
          </a:xfrm>
          <a:prstGeom prst="rect">
            <a:avLst/>
          </a:prstGeom>
          <a:solidFill>
            <a:srgbClr val="D24B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33500" y="5028605"/>
            <a:ext cx="706183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26808" y="5571530"/>
            <a:ext cx="6702742" cy="93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3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simulados (mock)</a:t>
            </a:r>
            <a:endParaRPr lang="en-US" sz="2325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3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persistência ao recarregar</a:t>
            </a:r>
            <a:endParaRPr lang="en-US" sz="2325" dirty="0"/>
          </a:p>
        </p:txBody>
      </p:sp>
      <p:sp>
        <p:nvSpPr>
          <p:cNvPr id="10" name="Shape 8"/>
          <p:cNvSpPr/>
          <p:nvPr/>
        </p:nvSpPr>
        <p:spPr>
          <a:xfrm>
            <a:off x="8515350" y="4599980"/>
            <a:ext cx="7258050" cy="2770733"/>
          </a:xfrm>
          <a:prstGeom prst="roundRect">
            <a:avLst>
              <a:gd name="adj" fmla="val 687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8515350" y="4599980"/>
            <a:ext cx="7258050" cy="47625"/>
          </a:xfrm>
          <a:prstGeom prst="rect">
            <a:avLst/>
          </a:prstGeom>
          <a:solidFill>
            <a:srgbClr val="2B9D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934450" y="5028605"/>
            <a:ext cx="706183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34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727758" y="5571530"/>
            <a:ext cx="6702742" cy="1456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3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Salvar dados (localStorage)</a:t>
            </a:r>
            <a:endParaRPr lang="en-US" sz="2325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3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backend / API</a:t>
            </a:r>
            <a:endParaRPr lang="en-US" sz="2325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325" dirty="0">
                <a:solidFill>
                  <a:srgbClr val="5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real e notificações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914400" y="9134475"/>
            <a:ext cx="52737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de Agendas Médicas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6666815" y="9134475"/>
            <a:ext cx="96436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20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D4F64">
                  <a:alpha val="100000"/>
                </a:srgbClr>
              </a:gs>
              <a:gs pos="52000">
                <a:srgbClr val="126B86">
                  <a:alpha val="100000"/>
                </a:srgbClr>
              </a:gs>
              <a:gs pos="100000">
                <a:srgbClr val="1A8BA8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4478000" y="-1143000"/>
            <a:ext cx="4953000" cy="4953000"/>
          </a:xfrm>
          <a:prstGeom prst="ellipse">
            <a:avLst/>
          </a:prstGeom>
          <a:gradFill rotWithShape="1">
            <a:gsLst>
              <a:gs pos="0">
                <a:srgbClr val="30FADF">
                  <a:alpha val="18000"/>
                </a:srgbClr>
              </a:gs>
              <a:gs pos="70000">
                <a:srgbClr val="30FAD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14400" y="3138488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30FADF"/>
          </a:solidFill>
          <a:ln/>
          <a:effectLst>
            <a:outerShdw blurRad="285750" dist="114300" dir="5400000" algn="bl" rotWithShape="0">
              <a:srgbClr val="30FADF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122164" y="3243263"/>
            <a:ext cx="36552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0D4F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14400" y="4224338"/>
            <a:ext cx="5937161" cy="117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925" b="1" kern="0" spc="-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8925" dirty="0"/>
          </a:p>
        </p:txBody>
      </p:sp>
      <p:sp>
        <p:nvSpPr>
          <p:cNvPr id="7" name="Text 5"/>
          <p:cNvSpPr/>
          <p:nvPr/>
        </p:nvSpPr>
        <p:spPr>
          <a:xfrm>
            <a:off x="914400" y="5624513"/>
            <a:ext cx="5747564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225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são bem-vindas.</a:t>
            </a:r>
            <a:endParaRPr lang="en-US" sz="3225" dirty="0"/>
          </a:p>
        </p:txBody>
      </p:sp>
      <p:sp>
        <p:nvSpPr>
          <p:cNvPr id="8" name="Text 6"/>
          <p:cNvSpPr/>
          <p:nvPr/>
        </p:nvSpPr>
        <p:spPr>
          <a:xfrm>
            <a:off x="914400" y="6796088"/>
            <a:ext cx="52737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de Agendas Médicas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5880199" y="6796088"/>
            <a:ext cx="13796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>
                    <a:alpha val="3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6113413" y="6796088"/>
            <a:ext cx="433801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A — Desenvolvimento Web</a:t>
            </a:r>
            <a:endParaRPr lang="en-US" sz="20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1682</Words>
  <Application>Microsoft Office PowerPoint</Application>
  <PresentationFormat>Personalizar</PresentationFormat>
  <Paragraphs>287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Lucas Guimarães Fabrício</cp:lastModifiedBy>
  <cp:revision>11</cp:revision>
  <dcterms:created xsi:type="dcterms:W3CDTF">2026-06-20T05:37:05Z</dcterms:created>
  <dcterms:modified xsi:type="dcterms:W3CDTF">2026-06-20T05:50:37Z</dcterms:modified>
</cp:coreProperties>
</file>